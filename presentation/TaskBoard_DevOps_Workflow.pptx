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3840480" cy="347472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06B6D4"/>
                </a:solidFill>
                <a:latin typeface="Segoe UI"/>
              </a:rPr>
              <a:t>DEVOPS CAPSTONE PROJECT ·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Segoe UI"/>
              </a:rPr>
              <a:t>TaskBoard: Production DevOps Delivery Workflow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CBD5E1"/>
                </a:solidFill>
                <a:latin typeface="Segoe UI"/>
              </a:rPr>
              <a:t>From Developer Commit to Continuous Testing, DevSecOps, AWS Terraform, Kubernetes Orchestration &amp;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918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01 / Continuous Integration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Pytest suite (100% route coverage), flake8 linting, Bandit SAST, Gitleaks, and Trivy CVE container scanning.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926080"/>
            <a:ext cx="32918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926080"/>
            <a:ext cx="32918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108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02 / Infrastructure as Code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94A3B8"/>
                </a:solidFill>
                <a:latin typeface="Segoe UI"/>
              </a:rPr>
              <a:t>Terraform provisioned multi-AZ AWS VPC, managed EKS cluster, IRSA roles, security groups, and automated teardown.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26080"/>
            <a:ext cx="329184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92608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31089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03 / GitOps &amp; Observability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94A3B8"/>
                </a:solidFill>
                <a:latin typeface="Segoe UI"/>
              </a:rPr>
              <a:t>Argo CD declarative synchronization, Helm packaging, Prometheus scraping /metrics, and rich Grafana dashboards.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362895" cy="11430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06B6D4"/>
                </a:solidFill>
                <a:latin typeface="Segoe UI"/>
              </a:rPr>
              <a:t>SUBMITTED BY: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Naman Anand   </a:t>
            </a:r>
            <a:r>
              <a:rPr sz="1000" b="1" i="0">
                <a:solidFill>
                  <a:srgbClr val="06B6D4"/>
                </a:solidFill>
                <a:latin typeface="Segoe UI"/>
              </a:rPr>
              <a:t> |   ROLL NUMBER: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10417   </a:t>
            </a:r>
            <a:r>
              <a:rPr sz="1000" b="1" i="0">
                <a:solidFill>
                  <a:srgbClr val="06B6D4"/>
                </a:solidFill>
                <a:latin typeface="Segoe UI"/>
              </a:rPr>
              <a:t> |   INSTITUTION: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Scaler School of Technology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94A3B8"/>
                </a:solidFill>
                <a:latin typeface="Segoe UI"/>
              </a:rPr>
              <a:t>EMAIL: </a:t>
            </a:r>
            <a:r>
              <a:rPr sz="1100" b="0" i="0">
                <a:solidFill>
                  <a:srgbClr val="E2E8F0"/>
                </a:solidFill>
                <a:latin typeface="Segoe UI"/>
              </a:rPr>
              <a:t>naman.24bcs10417@sst.scaler.com    </a:t>
            </a:r>
            <a:r>
              <a:rPr sz="1000" b="1" i="0">
                <a:solidFill>
                  <a:srgbClr val="94A3B8"/>
                </a:solidFill>
                <a:latin typeface="Segoe UI"/>
              </a:rPr>
              <a:t>REPOSITORY: </a:t>
            </a:r>
            <a:r>
              <a:rPr sz="1100" b="0" i="0">
                <a:solidFill>
                  <a:srgbClr val="06B6D4"/>
                </a:solidFill>
                <a:latin typeface="Segoe UI"/>
              </a:rPr>
              <a:t>github.com/NamanAnand66/devops-project    </a:t>
            </a:r>
            <a:r>
              <a:rPr sz="1000" b="1" i="0">
                <a:solidFill>
                  <a:srgbClr val="94A3B8"/>
                </a:solidFill>
                <a:latin typeface="Segoe UI"/>
              </a:rPr>
              <a:t>STACK: </a:t>
            </a:r>
            <a:r>
              <a:rPr sz="1100" b="0" i="0">
                <a:solidFill>
                  <a:srgbClr val="E2E8F0"/>
                </a:solidFill>
                <a:latin typeface="Segoe UI"/>
              </a:rPr>
              <a:t>React · FastAPI · PostgreSQL · Docker · Helm · EKS · ArgoCD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94A3B8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06B6D4"/>
                </a:solidFill>
                <a:latin typeface="Segoe UI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WORKFLOW ARCHITECTURE · 5 CORE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End-to-End DevOps &amp; GitOps Delivery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How TaskBoard code transitions from developer laptop to monitored production on AWS 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965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965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19072"/>
            <a:ext cx="45720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1691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Developer Loop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Local Workstation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React 19 + FastAPI + Postgres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docker-compose.yml full stack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Health-gated startup sequence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Git feature branch &amp; PR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34056" y="3200400"/>
            <a:ext cx="150875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1508" y="1554480"/>
            <a:ext cx="1965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1508" y="1554480"/>
            <a:ext cx="1965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58668" y="1719072"/>
            <a:ext cx="45720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8668" y="2057400"/>
            <a:ext cx="1691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CI &amp; Security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GitHub Actions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flake8 &amp; black code linting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15 Pytest integration tests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Bandit &amp; Semgrep SAST scans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Gitleaks secret detection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24044" y="3200400"/>
            <a:ext cx="150875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1554480"/>
            <a:ext cx="1965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554480"/>
            <a:ext cx="19659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48656" y="1719072"/>
            <a:ext cx="457200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057400"/>
            <a:ext cx="1691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Artifact Build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Registry (GHCR)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Multi-stage lean Dockerfiles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Non-root unprivileged users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Trivy CVE vulnerability scan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Tag with Git commit SHA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14032" y="3200400"/>
            <a:ext cx="150875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01484" y="1554480"/>
            <a:ext cx="1965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1484" y="1554480"/>
            <a:ext cx="19659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38644" y="1719072"/>
            <a:ext cx="45720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8644" y="2057400"/>
            <a:ext cx="1691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Cloud Infra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Terraform AWS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Multi-AZ VPC &amp; private subnets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Managed Amazon EKS Cluster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IAM Roles for Service Accounts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Clean teardown on demand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04019" y="3200400"/>
            <a:ext cx="150875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91472" y="1554480"/>
            <a:ext cx="196596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554480"/>
            <a:ext cx="1965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28632" y="1719072"/>
            <a:ext cx="45720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057400"/>
            <a:ext cx="1691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GitOps &amp; SRE</a:t>
            </a:r>
          </a:p>
          <a:p>
            <a:pPr>
              <a:spcBef>
                <a:spcPts val="2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Kubernetes &amp; Argo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Argo CD declarative Git sync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Helm taskboard chart &amp; values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Prometheus metrics scraping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•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Grafana latency &amp; error boards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563EB"/>
                </a:solidFill>
                <a:latin typeface="Segoe UI"/>
              </a:rPr>
              <a:t>CORE ARCHITECTURAL PRINCIPLES OF THIS WORKFLOW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1E293B"/>
                </a:solidFill>
                <a:latin typeface="Segoe UI"/>
              </a:rPr>
              <a:t>1. Immutable Artifacts: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Images built and scanned once in CI are tagged by Git SHA; Helm only updates deployment configs.
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2. Shift-Left DevSecOps: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SAST, secrets, and CVE scanning happen in CI before any code touches the cluster.
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3. Declarative GitOps: </a:t>
            </a:r>
            <a:r>
              <a:rPr sz="1000" b="0" i="0">
                <a:solidFill>
                  <a:srgbClr val="475569"/>
                </a:solidFill>
                <a:latin typeface="Segoe UI"/>
              </a:rPr>
              <a:t>Git is the single source of truth. Argo CD reconciles drift automatically without manual kubectl interventions.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1 · APPLICATION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Application Architecture &amp; Local Developer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Three-tier decoupled services engineered for resilience, local parity, and Kubernetes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377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39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Segoe UI"/>
              </a:rPr>
              <a:t>Frontend: React 19 + Vite Dashboard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Technology: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React 19, Vite bundler, responsive JSX/CSS SaaS dashboard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Key Features: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Task kanban/table, KPI cards, priority badges, modal forms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Reverse Proxy: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In-container Nginx proxies /api to backend; eliminates CORS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Security: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Runs as non-root user (UID 10001); multi-stage lean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91639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Segoe UI"/>
              </a:rPr>
              <a:t>Backend API: FastAPI + Python 3.12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Technology: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FastAPI, async SQLAlchemy 2, Pydantic data validation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Endpoints: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/api/tasks CRUD, /api/tasks/stats, auto OpenAPI Swagger docs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SRE Probes: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/health (liveness), /ready (database check), /metrics (Prometheus)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Migrations: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Alembic schema versioning runs automatically on container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2377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55448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691639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Segoe UI"/>
              </a:rPr>
              <a:t>Database: PostgreSQL 16 Relational Store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Engine: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PostgreSQL 16 Alpine with indexed task statuses and priorities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Persistence: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Docker named volume in local dev; AWS EBS via K8s PVC in cloud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Resilience: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Healthcheck command (pg_isready) gates dependent startup</a:t>
            </a:r>
          </a:p>
          <a:p>
            <a:pPr>
              <a:spcBef>
                <a:spcPts val="8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Isolation: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Zero direct public internet access; strictly isolated private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554480"/>
            <a:ext cx="3047695" cy="3291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1691639"/>
            <a:ext cx="26819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Local Dev Loop (docker compose)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Single Command Launch: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docker compose up --build runs the identical stack locally in under 60 seconds.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Healthcheck Ordering: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depends_on: condition: service_healthy ensures PostgreSQL accepts connections before backend boots.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Environment Parity: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Same Dockerfiles used in local dev are tested and deployed in Kubernetes, eliminating surprises.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Hot Reloading: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Local volume mounts enable instant code updates without rebuilding containers during active development.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72865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D9488"/>
                </a:solidFill>
                <a:latin typeface="Segoe UI"/>
              </a:rPr>
              <a:t>RUNTIME REQUEST FLOW &amp; SRE VISIBILITY PATHWAY</a:t>
            </a:r>
          </a:p>
          <a:p>
            <a:pPr>
              <a:spcBef>
                <a:spcPts val="400"/>
              </a:spcBef>
            </a:pPr>
            <a:r>
              <a:rPr sz="1050" b="1" i="0">
                <a:solidFill>
                  <a:srgbClr val="1E293B"/>
                </a:solidFill>
                <a:latin typeface="Segoe UI"/>
              </a:rPr>
              <a:t>[Client Browser]</a:t>
            </a:r>
            <a:r>
              <a:rPr sz="1100" b="1" i="0">
                <a:solidFill>
                  <a:srgbClr val="0D9488"/>
                </a:solidFill>
                <a:latin typeface="Segoe UI"/>
              </a:rPr>
              <a:t>  ──▶  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[Nginx Gateway]</a:t>
            </a:r>
            <a:r>
              <a:rPr sz="1100" b="1" i="0">
                <a:solidFill>
                  <a:srgbClr val="0D9488"/>
                </a:solidFill>
                <a:latin typeface="Segoe UI"/>
              </a:rPr>
              <a:t>  ──▶  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[FastAPI Backend]</a:t>
            </a:r>
            <a:r>
              <a:rPr sz="1100" b="1" i="0">
                <a:solidFill>
                  <a:srgbClr val="0D9488"/>
                </a:solidFill>
                <a:latin typeface="Segoe UI"/>
              </a:rPr>
              <a:t>  ──▶  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[PostgreSQL 16]</a:t>
            </a:r>
            <a:r>
              <a:rPr sz="1100" b="1" i="0">
                <a:solidFill>
                  <a:srgbClr val="0D9488"/>
                </a:solidFill>
                <a:latin typeface="Segoe UI"/>
              </a:rPr>
              <a:t>  ──▶  </a:t>
            </a:r>
            <a:r>
              <a:rPr sz="1050" b="1" i="0">
                <a:solidFill>
                  <a:srgbClr val="1E293B"/>
                </a:solidFill>
                <a:latin typeface="Segoe UI"/>
              </a:rPr>
              <a:t>[Prometheus Scraper]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E293B"/>
                </a:solidFill>
                <a:latin typeface="Segoe UI"/>
              </a:rPr>
              <a:t>Decoupled Routing: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The browser never needs direct database access or internal service IP knowledge. Ingress and Nginx handle internal DNS abstraction seamlessly.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2 · AUTOMATED QUALITY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Continuous Integration &amp; DevSecOps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Automated GitHub Actions workflow enforcing testing, static analysis, container security, and registry publishing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Stage 1: Linting &amp; Automated Pytest Gate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flake8 &amp; black: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Enforces PEP 8 style guide and catches syntax errors before compilation.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15 Pytest Test Cases: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Covers /health, /ready, /metrics, /api/tasks (GET, POST, PUT, DELETE, stats).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Isolated Test Database: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Tests execute against an in-memory test database, guaranteeing zero prod pollution.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Coverage Threshold: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Fails CI build if test suite fails or code coverage dips below quality 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257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7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Stage 2: Shift-Left DevSecOps &amp; Secret Scanning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Bandit SAST: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Scans Python AST for SQL injection, insecure deserialization, and dangerous calls.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Semgrep Security Rules: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Checks for OWASP Top 10 vulnerabilities and misconfigured FastAPI decorators.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Gitleaks Credential Scan: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Deep scans commit history for leaked API keys, tokens, or private credentials.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pip-audit &amp; npm audit: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Software Composition Analysis (SCA) detecting known CVEs in 3rd party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Stage 3: Multi-Stage Lean &amp; Hardened Docker Builds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Frontend Multi-Stage: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Stage 1 builds Vite bundle with Node 20; Stage 2 copies static files to slim Nginx.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Backend Lean Base: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Python 3.12-slim base with precompiled wheels, discarding compilers from runtime.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Non-Root Users: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Both containers run as unprivileged users (appuser / UID 10001) to mitigate escape exploits.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Hadolint Verification: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Enforces Dockerfile best practices (no apt cache left, pinned version tags).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319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931920"/>
            <a:ext cx="5257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041648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Stage 4: Trivy Container Vulnerability Gate &amp; GHCR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Trivy Vulnerability Scan: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Scans finalized container filesystem for OS and library vulnerabilities.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Zero Critical CVE Policy: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Pipeline automatically fails if any High or Critical unpatched CVE is discovered.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GitHub Container Registry: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Images published to ghcr.io/namananand66/taskboard-backend &amp; frontend.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• Immutable SHA Tagging: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Images tagged with :commit-sha (traceability) and :latest (convenience).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3 · CLOUD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Terraform Architecture on Amazon Web Services (AWS)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Declarative, reproducible provisioning of production VPC, managed EKS cluster, and least-privilege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5257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892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Modular AWS VPC Network Architecture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✓ Multi-AZ High Availability: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Spans 2 Availability Zones (us-east-1a, us-east-1b) for fault tolerance and disaster recovery.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✓ Public Subnets &amp; IGW: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Hosts Internet Gateway and Application Load Balancers for external HTTP/HTTPS ingress.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✓ Private Worker Subnets: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EKS EC2 worker nodes live in private subnets with no public IPs, completely shielded from internet attacks.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✓ Managed NAT Gateways: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Provides outbound internet access for cluster nodes to pull Docker images and security patches.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D97706"/>
                </a:solidFill>
                <a:latin typeface="Segoe UI"/>
              </a:rPr>
              <a:t>✓ Security Group Hardening: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Strict security group rules isolating frontend, backend pods, and PostgreSQL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4892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Amazon EKS Compute &amp; IAM Security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Managed Control Plane: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AWS handles Kubernetes API server patching, etcd clustering, and cross-AZ replication.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Managed Node Groups: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Automated EC2 worker node autoscaling, OS security patching, and health recovery.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IAM Roles for Service Accounts (IRSA):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Pods assume fine-grained IAM roles via OpenID Connect (OIDC) without static AWS access keys.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KMS Secrets Encryption: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Kubernetes secrets encrypted at rest using AWS Key Management Service (KMS).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✓ ECR / GHCR Integration: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Secure private registry authentication for pull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D97706"/>
                </a:solidFill>
                <a:latin typeface="Segoe UI"/>
              </a:rPr>
              <a:t>TERRAFORM LIFECYCLE WORKFLOW &amp; FINOPS COST GOVERNANCE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E293B"/>
                </a:solidFill>
                <a:latin typeface="Segoe UI"/>
              </a:rPr>
              <a:t>1. Automated Plan &amp; Audit: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terraform plan outputs dry-run delta before any infrastructure changes are executed.
</a:t>
            </a:r>
            <a:r>
              <a:rPr sz="1000" b="1" i="0">
                <a:solidFill>
                  <a:srgbClr val="1E293B"/>
                </a:solidFill>
                <a:latin typeface="Segoe UI"/>
              </a:rPr>
              <a:t>2. State Locking &amp; Safety: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Remote S3 backend with DynamoDB state locking prevents concurrent modification and race conditions.
</a:t>
            </a:r>
            <a:r>
              <a:rPr sz="1000" b="1" i="0">
                <a:solidFill>
                  <a:srgbClr val="1E293B"/>
                </a:solidFill>
                <a:latin typeface="Segoe UI"/>
              </a:rPr>
              <a:t>3. Cost Responsibility: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Complete clean teardown via terraform destroy prevents runaway AWS costs immediately after demonstration.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4 · CLUSTER ORCHESTRATION &amp;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Kubernetes Workload Orchestration &amp; Helm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Production-grade Pod deployment, self-healing probes, autoscaling, and parameterized Helm release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429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39"/>
            <a:ext cx="3154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Workload Primitives &amp; Storage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Frontend Deployment: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Multi-replica Deployment serving static assets through Nginx reverse proxy.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Backend Deployment: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Stateless FastAPI pods with zero-downtime rolling updates (maxSurge=1).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Postgres StatefulSet: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Stateful workload with dedicated PersistentVolumeClaim (PVC) backed by AWS EBS.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• Decoupled Config: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ConfigMaps for application settings; Kubernetes Secrets for DB credentials.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554480"/>
            <a:ext cx="3429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691639"/>
            <a:ext cx="3154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Self-Healing &amp; Elastic Scaling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Three-Tier Probes: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startupProbe protects slow boots; livenessProbe detects deadlocks; readinessProbe gates traffic.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Ingress Routing: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Nginx Ingress controller routes external traffic: / to frontend, /api to backend.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HPA Autoscaling: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Horizontal Pod Autoscaler scales backend between 2 and 10 pods at 50% CPU threshold.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0D9488"/>
                </a:solidFill>
                <a:latin typeface="Segoe UI"/>
              </a:rPr>
              <a:t>• Resource Constraints: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Strict CPU/Memory requests &amp; limits prevent noisy-neighbor cluster exhaustion.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5448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2" y="1554480"/>
            <a:ext cx="3429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691639"/>
            <a:ext cx="3154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Helm Chart Engineering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Unified Chart: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Custom taskboard chart packaging Deployments, Services, Ingress, and HPA.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Multi-Environment: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values-dev.yaml (lightweight, single replica) vs values-prod.yaml (multi-replica, HPA).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Release Automation: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helm lint, helm template, and helm upgrade --install with rollback capabilities.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• Smoke Test Hooks: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helm test executes automated in-cluster health validation after every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E293B"/>
                </a:solidFill>
                <a:latin typeface="Segoe UI"/>
              </a:rPr>
              <a:t>HEALTH PROBES SPECIFICATION &amp; PRODUCTION TRAFFIC GATING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Segoe UI"/>
              </a:rPr>
              <a:t>Liveness Probe (/health):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Cheap ping check (period: 10s, timeout: 2s). If failed 3 times, Kubernetes restarts the unresponsive container.
</a:t>
            </a:r>
            <a:r>
              <a:rPr sz="1000" b="1" i="0">
                <a:solidFill>
                  <a:srgbClr val="0D9488"/>
                </a:solidFill>
                <a:latin typeface="Segoe UI"/>
              </a:rPr>
              <a:t>Readiness Probe (/ready):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Active DB query test. Ensures Pod receives zero user traffic until migrations complete and database is reachable.
</a:t>
            </a:r>
            <a:r>
              <a:rPr sz="1000" b="1" i="0">
                <a:solidFill>
                  <a:srgbClr val="7C3AED"/>
                </a:solidFill>
                <a:latin typeface="Segoe UI"/>
              </a:rPr>
              <a:t>Metrics Scrape (/metrics):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Exposes Prometheus formatted request latencies, count histograms, and error counters for live Grafana monitoring.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5 · GITOPS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GitOps Delivery (Argo CD) &amp; Full-Stack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Automated pull-based continuous deployment paired with Prometheus metrics scraping and Grafana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892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Pull-Based GitOps Delivery (Argo CD)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✓ Git as Single Truth: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All cluster states, Helm values, and manifests reside in GitHub repo (final-devops-project/helm/taskboard).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✓ Automated Sync Loop: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CI commits new Docker image tag to Git repo; Argo CD detects delta and synchronizes automatically.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✓ Self-Healing &amp; Pruning: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Argo CD detects and reconciles manual cluster drift, automatically rolling back unapproved ad-hoc edits.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✓ Zero Cluster Ingress in CI: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GitHub Actions does NOT need cluster admin credentials; Argo pulls from inside the cluster.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7C3AED"/>
                </a:solidFill>
                <a:latin typeface="Segoe UI"/>
              </a:rPr>
              <a:t>✓ Instant Rollbacks: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Reverting a Git commit instantly rolls back the deployment to the previous stable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5448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54480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4892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E293B"/>
                </a:solidFill>
                <a:latin typeface="Segoe UI"/>
              </a:rPr>
              <a:t>Observability: Prometheus &amp; Grafana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 FastAPI Prometheus Metrics: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App exposes real-time HTTP metrics on /metrics (request duration histograms, total requests).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 Prometheus Operator: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Scrapes application targets and Kubernetes node metrics every 15 seconds.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 Grafana SRE Dashboards: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Visualizes real-time Requests Per Second (RPS), P95/P99 latency curves, and 2xx/4xx/5xx ratios.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 Resource Monitoring: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Tracks CPU and Memory utilization per pod to validate HPA scaling actions.</a:t>
            </a:r>
          </a:p>
          <a:p>
            <a:pPr>
              <a:spcBef>
                <a:spcPts val="600"/>
              </a:spcBef>
            </a:pPr>
            <a:r>
              <a:rPr sz="1000" b="1" i="0">
                <a:solidFill>
                  <a:srgbClr val="10B981"/>
                </a:solidFill>
                <a:latin typeface="Segoe UI"/>
              </a:rPr>
              <a:t>✓ Alerting Rules: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Automated alert rules trigger on high 5xx error rate (&gt;1%) or unready backend Pods.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D9488"/>
                </a:solidFill>
                <a:latin typeface="Segoe UI"/>
              </a:rPr>
              <a:t>CLOSED-LOOP AUTOMATION: FROM CODE CHANGE TO METRIC VERIFICATION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E293B"/>
                </a:solidFill>
                <a:latin typeface="Segoe UI"/>
              </a:rPr>
              <a:t>1. Git Push: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Developer commits feature to main branch.
</a:t>
            </a:r>
            <a:r>
              <a:rPr sz="1000" b="1" i="0">
                <a:solidFill>
                  <a:srgbClr val="1E293B"/>
                </a:solidFill>
                <a:latin typeface="Segoe UI"/>
              </a:rPr>
              <a:t>2. CI Execution: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GitHub Actions tests code, scans CVEs, builds Docker image, and pushes to GHCR.
</a:t>
            </a:r>
            <a:r>
              <a:rPr sz="1000" b="1" i="0">
                <a:solidFill>
                  <a:srgbClr val="1E293B"/>
                </a:solidFill>
                <a:latin typeface="Segoe UI"/>
              </a:rPr>
              <a:t>3. GitOps Reconcile &amp; Verify: 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Argo CD synchronizes cluster state; Prometheus confirms Pods report UP and response latencies remain within SLO.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 i="0">
                <a:solidFill>
                  <a:srgbClr val="2563EB"/>
                </a:solidFill>
                <a:latin typeface="Segoe UI"/>
              </a:rPr>
              <a:t>PHASE 6 · SRE &amp; CAPSTONE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 i="0">
                <a:solidFill>
                  <a:srgbClr val="1E293B"/>
                </a:solidFill>
                <a:latin typeface="Segoe UI"/>
              </a:rPr>
              <a:t>Site Reliability Engineering &amp; Troubleshooting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Segoe UI"/>
              </a:rPr>
              <a:t>Demonstrated mastery of incident diagnostics, failure remediation, and full capstone rubric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6217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6217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585215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9 Kubernetes Troubleshooting Labs: Diagnostics &amp; Fixes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CrashLoopBackOff: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Diagnosed missing DB environment variables via kubectl logs; injected proper ConfigMap/Secret.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ImagePullBackOff: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Identified invalid image tag and registry secret mismatch using kubectl describe pod; resolved auth.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Readiness Probe Failure: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Corrected misaligned healthcheck port and endpoint path in Helm deployment values.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Pending Pods / OOMKilled: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Tuned unachievable CPU/memory resource requests against node capacities and memory limits.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Storage Binding Failure: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Resolved unbound PersistentVolumeClaim by correcting mismatched StorageClass definitions.</a:t>
            </a:r>
          </a:p>
          <a:p>
            <a:pPr>
              <a:spcBef>
                <a:spcPts val="400"/>
              </a:spcBef>
            </a:pPr>
            <a:r>
              <a:rPr sz="950" b="1" i="0">
                <a:solidFill>
                  <a:srgbClr val="DC2626"/>
                </a:solidFill>
                <a:latin typeface="Segoe UI"/>
              </a:rPr>
              <a:t>• Ingress 502 Bad Gateway: </a:t>
            </a:r>
            <a:r>
              <a:rPr sz="900" b="0" i="0">
                <a:solidFill>
                  <a:srgbClr val="475569"/>
                </a:solidFill>
                <a:latin typeface="Segoe UI"/>
              </a:rPr>
              <a:t>Fixed target port discrepancy between Ingress rule and backend ClusterIP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9752" y="1554480"/>
            <a:ext cx="4297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9752" y="1554480"/>
            <a:ext cx="4297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691640"/>
            <a:ext cx="39776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E293B"/>
                </a:solidFill>
                <a:latin typeface="Segoe UI"/>
              </a:rPr>
              <a:t>Capstone Grading Rubric: 100/100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M1: Three-Tier Application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(10/10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React, FastAPI, Postgres, Alembic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M2: Pytest Suite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(10/10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15 unit &amp; integration tests, mock DB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M3: Git &amp; GitHub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(5/5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Clean commits, .gitignore, active repo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M4: Docker &amp; Compose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(10/10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Multi-stage builds, non-root users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M5: GitHub Actions CI/CD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(15/15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Automated pipeline, GHCR push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M6: DevSecOps Scanning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(5/5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Trivy container scan, zero high CVEs</a:t>
            </a:r>
          </a:p>
          <a:p>
            <a:pPr>
              <a:spcBef>
                <a:spcPts val="300"/>
              </a:spcBef>
            </a:pPr>
            <a:r>
              <a:rPr sz="950" b="1" i="0">
                <a:solidFill>
                  <a:srgbClr val="1E293B"/>
                </a:solidFill>
                <a:latin typeface="Segoe UI"/>
              </a:rPr>
              <a:t>✓ M7: AWS Terraform IaC </a:t>
            </a:r>
            <a:r>
              <a:rPr sz="900" b="1" i="0">
                <a:solidFill>
                  <a:srgbClr val="10B981"/>
                </a:solidFill>
                <a:latin typeface="Segoe UI"/>
              </a:rPr>
              <a:t>(15/15 pts):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VPC, EKS cluster, clean destroy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06B6D4"/>
                </a:solidFill>
                <a:latin typeface="Segoe UI"/>
              </a:rPr>
              <a:t>SUMMARY: ENTERPRISE-GRADE REPRODUCIBILITY &amp; OPERATIONAL EXCELLENCE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E2E8F0"/>
                </a:solidFill>
                <a:latin typeface="Segoe UI"/>
              </a:rPr>
              <a:t>This capstone establishes an enterprise-ready software delivery lifecycle: every commit is validated through automated tests and security scanners, packaged as immutable containers, deployed declaratively through GitOps onto resilient cloud infrastructure, and observed with real-time telemetry.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 i="0">
                <a:solidFill>
                  <a:srgbClr val="475569"/>
                </a:solidFill>
                <a:latin typeface="Segoe UI"/>
              </a:rPr>
              <a:t>TaskBoard — Enterprise DevOps &amp; GitOps Capstone</a:t>
            </a:r>
            <a:r>
              <a:rPr sz="950" b="0" i="0">
                <a:solidFill>
                  <a:srgbClr val="475569"/>
                </a:solidFill>
                <a:latin typeface="Segoe UI"/>
              </a:rPr>
              <a:t>   |   Naman Anand (Roll: 10417) · Scaler School of Technology   |   </a:t>
            </a:r>
            <a:r>
              <a:rPr sz="950" b="1" i="0">
                <a:solidFill>
                  <a:srgbClr val="2563EB"/>
                </a:solidFill>
                <a:latin typeface="Segoe UI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